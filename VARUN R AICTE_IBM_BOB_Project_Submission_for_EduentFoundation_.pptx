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22485003"/>
              </p:ext>
            </p:extLst>
          </p:nvPr>
        </p:nvGraphicFramePr>
        <p:xfrm>
          <a:off x="1299257" y="2600315"/>
          <a:ext cx="9394989" cy="2320002"/>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26111">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VARUN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pruthvivarunr@gmail.com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+91 9900954468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70556"/>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Krishi Niti - </a:t>
            </a:r>
            <a:r>
              <a:rPr lang="en-IN" sz="2400" dirty="0"/>
              <a:t>AI Agent for Smart Farming Advice</a:t>
            </a:r>
            <a:endParaRPr lang="en-IN" sz="2400" b="1" dirty="0">
              <a:highlight>
                <a:srgbClr val="FFFF00"/>
              </a:highlight>
            </a:endParaRPr>
          </a:p>
        </p:txBody>
      </p:sp>
      <p:pic>
        <p:nvPicPr>
          <p:cNvPr id="5" name="Picture 4">
            <a:extLst>
              <a:ext uri="{FF2B5EF4-FFF2-40B4-BE49-F238E27FC236}">
                <a16:creationId xmlns:a16="http://schemas.microsoft.com/office/drawing/2014/main" id="{78FDE43D-D2B2-2C41-B598-1ADF369DC6F0}"/>
              </a:ext>
            </a:extLst>
          </p:cNvPr>
          <p:cNvPicPr>
            <a:picLocks noChangeAspect="1"/>
          </p:cNvPicPr>
          <p:nvPr/>
        </p:nvPicPr>
        <p:blipFill>
          <a:blip r:embed="rId3"/>
          <a:stretch>
            <a:fillRect/>
          </a:stretch>
        </p:blipFill>
        <p:spPr>
          <a:xfrm>
            <a:off x="3949519" y="3768431"/>
            <a:ext cx="1011044" cy="1151886"/>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US" b="1" dirty="0"/>
              <a:t>Problem Statement : </a:t>
            </a:r>
            <a:r>
              <a:rPr lang="en-IN" dirty="0"/>
              <a:t>AI Agent for Smart Farming Advice</a:t>
            </a:r>
            <a:r>
              <a:rPr lang="en-US" dirty="0"/>
              <a:t> </a:t>
            </a:r>
          </a:p>
          <a:p>
            <a:pPr fontAlgn="base"/>
            <a:endParaRPr lang="en-US" b="1" dirty="0"/>
          </a:p>
          <a:p>
            <a:pPr fontAlgn="base"/>
            <a:r>
              <a:rPr lang="en-US" b="1" dirty="0"/>
              <a:t>The Challenge</a:t>
            </a:r>
            <a:r>
              <a:rPr lang="en-US" dirty="0"/>
              <a:t> </a:t>
            </a:r>
          </a:p>
          <a:p>
            <a:pPr fontAlgn="base"/>
            <a:r>
              <a:rPr lang="en-IN" dirty="0"/>
              <a:t>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t>
            </a:r>
            <a:r>
              <a:rPr lang="en-IN" dirty="0" err="1"/>
              <a:t>agri</a:t>
            </a:r>
            <a:r>
              <a:rPr lang="en-IN" dirty="0"/>
              <a:t> tech platforms. Farmers can interact in their local language and ask questions like “What crop is best for this season?” or “What is today’s mandi rate for tomatoes?” The agent ensures timely, data-driven decisions that reduce risk, increase yield, and boost income. This AI-driven assistant bridges the knowledge gap and brings smart farming to the grassroots. </a:t>
            </a:r>
          </a:p>
          <a:p>
            <a:pPr fontAlgn="base"/>
            <a:endParaRPr lang="en-IN" dirty="0"/>
          </a:p>
          <a:p>
            <a:r>
              <a:rPr lang="en-IN" b="1" dirty="0"/>
              <a:t>Objective:</a:t>
            </a:r>
            <a:br>
              <a:rPr lang="en-IN" dirty="0"/>
            </a:br>
            <a:r>
              <a:rPr lang="en-IN" dirty="0"/>
              <a:t>To develop an AI-powered smart farming assistant that provides small-scale farmers with reliable, localized, and actionable agricultural guidance using RAG and IBM Granite.</a:t>
            </a:r>
          </a:p>
          <a:p>
            <a:endParaRPr lang="en-IN" dirty="0"/>
          </a:p>
          <a:p>
            <a:r>
              <a:rPr lang="en-IN" b="1" dirty="0"/>
              <a:t>Key Objectives:</a:t>
            </a:r>
            <a:endParaRPr lang="en-IN" dirty="0"/>
          </a:p>
          <a:p>
            <a:r>
              <a:rPr lang="en-IN" dirty="0"/>
              <a:t>Recommend suitable crops based on season, location, soil conditions, and water availability. </a:t>
            </a:r>
          </a:p>
          <a:p>
            <a:r>
              <a:rPr lang="en-IN" dirty="0"/>
              <a:t>Provide guidance on soil management, irrigation, pests, and crop diseases. </a:t>
            </a:r>
          </a:p>
          <a:p>
            <a:r>
              <a:rPr lang="en-IN" dirty="0"/>
              <a:t>Retrieve trusted agricultural information before generating recommendations. </a:t>
            </a:r>
          </a:p>
          <a:p>
            <a:r>
              <a:rPr lang="en-IN" dirty="0"/>
              <a:t>Generate clear, context-aware responses using IBM Granite. </a:t>
            </a:r>
          </a:p>
          <a:p>
            <a:r>
              <a:rPr lang="en-IN" dirty="0"/>
              <a:t>Support interaction in local/regional languages. </a:t>
            </a:r>
          </a:p>
          <a:p>
            <a:r>
              <a:rPr lang="en-IN" dirty="0"/>
              <a:t>Reduce uncertainty and help farmers make better data-driven decisions. </a:t>
            </a:r>
          </a:p>
          <a:p>
            <a:r>
              <a:rPr lang="en-IN" dirty="0"/>
              <a:t>This reflects the intended solution areas of crop selection, weather, soil, pest management, and market information.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IN" b="1" dirty="0" err="1"/>
              <a:t>KrishiNiti</a:t>
            </a:r>
            <a:r>
              <a:rPr lang="en-IN" b="1" dirty="0"/>
              <a:t> AI – AI-Powered Smart Farming Assistant</a:t>
            </a:r>
          </a:p>
          <a:p>
            <a:endParaRPr lang="en-IN" b="1" dirty="0"/>
          </a:p>
          <a:p>
            <a:r>
              <a:rPr lang="en-IN" dirty="0" err="1"/>
              <a:t>KrishiNiti</a:t>
            </a:r>
            <a:r>
              <a:rPr lang="en-IN" dirty="0"/>
              <a:t> AI is a </a:t>
            </a:r>
            <a:r>
              <a:rPr lang="en-IN" b="1" dirty="0"/>
              <a:t>RAG-based AI farming assistant</a:t>
            </a:r>
            <a:r>
              <a:rPr lang="en-IN" dirty="0"/>
              <a:t> designed to help small-scale farmers make informed decisions through natural-language interaction.</a:t>
            </a:r>
          </a:p>
          <a:p>
            <a:endParaRPr lang="en-IN" dirty="0"/>
          </a:p>
          <a:p>
            <a:r>
              <a:rPr lang="en-IN" b="1" dirty="0"/>
              <a:t>The system follows this workflow:</a:t>
            </a:r>
          </a:p>
          <a:p>
            <a:endParaRPr lang="en-IN" dirty="0"/>
          </a:p>
          <a:p>
            <a:r>
              <a:rPr lang="en-IN" b="1" dirty="0"/>
              <a:t>Farmer Query → Query Understanding → RAG Retrieval → Relevant Agricultural Context → IBM Granite → Actionable Farming Advice</a:t>
            </a:r>
          </a:p>
          <a:p>
            <a:endParaRPr lang="en-IN" dirty="0"/>
          </a:p>
          <a:p>
            <a:pPr marL="285750" indent="-285750">
              <a:buFont typeface="Arial" panose="020B0604020202020204" pitchFamily="34" charset="0"/>
              <a:buChar char="•"/>
            </a:pPr>
            <a:r>
              <a:rPr lang="en-IN" dirty="0"/>
              <a:t>The application retrieves relevant information from a trusted agricultural knowledge base using semantic search and then provides a context-aware response using </a:t>
            </a:r>
            <a:r>
              <a:rPr lang="en-IN" b="1" dirty="0"/>
              <a:t>IBM Granite</a:t>
            </a:r>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solution covers crop selection, soil and irrigation management, pest and disease guidance, weather-aware farming, and agricultural market information.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system combines </a:t>
            </a:r>
            <a:r>
              <a:rPr lang="en-IN" b="1" dirty="0"/>
              <a:t>React + TypeScript</a:t>
            </a:r>
            <a:r>
              <a:rPr lang="en-IN" dirty="0"/>
              <a:t> for the user interface, </a:t>
            </a:r>
            <a:r>
              <a:rPr lang="en-IN" b="1" dirty="0" err="1"/>
              <a:t>FastAPI</a:t>
            </a:r>
            <a:r>
              <a:rPr lang="en-IN" dirty="0"/>
              <a:t> for backend processing, </a:t>
            </a:r>
            <a:r>
              <a:rPr lang="en-IN" b="1" dirty="0" err="1"/>
              <a:t>ChromaDB</a:t>
            </a:r>
            <a:r>
              <a:rPr lang="en-IN" dirty="0"/>
              <a:t> as the vector database, and </a:t>
            </a:r>
            <a:r>
              <a:rPr lang="en-IN" b="1" dirty="0"/>
              <a:t>IBM watsonx.ai / Granite</a:t>
            </a:r>
            <a:r>
              <a:rPr lang="en-IN" dirty="0"/>
              <a:t> for AI generation and embeddings.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This follows the source material's core flow of trusted agricultural data → RAG retrieval → IBM Granite → farming recommendation. </a:t>
            </a:r>
          </a:p>
          <a:p>
            <a:pPr marL="285750" indent="-285750" fontAlgn="base">
              <a:buFont typeface="Arial" panose="020B0604020202020204" pitchFamily="34" charset="0"/>
              <a:buChar char="•"/>
            </a:pP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54134F2-A3AF-3374-DFD5-8B901793B996}"/>
              </a:ext>
            </a:extLst>
          </p:cNvPr>
          <p:cNvPicPr>
            <a:picLocks noChangeAspect="1"/>
          </p:cNvPicPr>
          <p:nvPr/>
        </p:nvPicPr>
        <p:blipFill>
          <a:blip r:embed="rId3"/>
          <a:stretch>
            <a:fillRect/>
          </a:stretch>
        </p:blipFill>
        <p:spPr>
          <a:xfrm>
            <a:off x="934472" y="1189703"/>
            <a:ext cx="10175980" cy="5297452"/>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0ED5F843-1436-55F8-1F42-5997FE4E5C20}"/>
              </a:ext>
            </a:extLst>
          </p:cNvPr>
          <p:cNvPicPr>
            <a:picLocks noChangeAspect="1"/>
          </p:cNvPicPr>
          <p:nvPr/>
        </p:nvPicPr>
        <p:blipFill>
          <a:blip r:embed="rId3"/>
          <a:stretch>
            <a:fillRect/>
          </a:stretch>
        </p:blipFill>
        <p:spPr>
          <a:xfrm>
            <a:off x="835741" y="963561"/>
            <a:ext cx="10864645" cy="571745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483BAA-B9CC-D155-66D8-F13AEC6162B8}"/>
              </a:ext>
            </a:extLst>
          </p:cNvPr>
          <p:cNvPicPr>
            <a:picLocks noChangeAspect="1"/>
          </p:cNvPicPr>
          <p:nvPr/>
        </p:nvPicPr>
        <p:blipFill>
          <a:blip r:embed="rId2"/>
          <a:stretch>
            <a:fillRect/>
          </a:stretch>
        </p:blipFill>
        <p:spPr>
          <a:xfrm>
            <a:off x="1106129" y="835741"/>
            <a:ext cx="9979742" cy="499831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77A2614C-59C1-C6AC-7676-0F00F2B0D7ED}"/>
              </a:ext>
            </a:extLst>
          </p:cNvPr>
          <p:cNvPicPr>
            <a:picLocks noChangeAspect="1"/>
          </p:cNvPicPr>
          <p:nvPr/>
        </p:nvPicPr>
        <p:blipFill>
          <a:blip r:embed="rId3"/>
          <a:stretch>
            <a:fillRect/>
          </a:stretch>
        </p:blipFill>
        <p:spPr>
          <a:xfrm>
            <a:off x="765686" y="924233"/>
            <a:ext cx="10600403" cy="576661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324535"/>
          </a:xfrm>
          <a:prstGeom prst="rect">
            <a:avLst/>
          </a:prstGeom>
          <a:noFill/>
        </p:spPr>
        <p:txBody>
          <a:bodyPr wrap="square" rtlCol="0">
            <a:spAutoFit/>
          </a:bodyPr>
          <a:lstStyle/>
          <a:p>
            <a:r>
              <a:rPr lang="en-IN" sz="1600" b="1" dirty="0"/>
              <a:t>Role of Agentic AI in the Solution</a:t>
            </a:r>
          </a:p>
          <a:p>
            <a:endParaRPr lang="en-IN" sz="1600" b="1" dirty="0"/>
          </a:p>
          <a:p>
            <a:r>
              <a:rPr lang="en-IN" dirty="0"/>
              <a:t>Agentic AI makes </a:t>
            </a:r>
            <a:r>
              <a:rPr lang="en-IN" dirty="0" err="1"/>
              <a:t>KrishiNiti</a:t>
            </a:r>
            <a:r>
              <a:rPr lang="en-IN" dirty="0"/>
              <a:t> AI more than a simple question-answer chatbot by allowing the system to perform a </a:t>
            </a:r>
            <a:r>
              <a:rPr lang="en-IN" b="1" dirty="0"/>
              <a:t>multi-step decision workflow</a:t>
            </a:r>
            <a:r>
              <a:rPr lang="en-IN" dirty="0"/>
              <a:t>.</a:t>
            </a:r>
          </a:p>
          <a:p>
            <a:endParaRPr lang="en-IN" dirty="0"/>
          </a:p>
          <a:p>
            <a:r>
              <a:rPr lang="en-IN" b="1" dirty="0"/>
              <a:t>Key Roles</a:t>
            </a:r>
          </a:p>
          <a:p>
            <a:endParaRPr lang="en-IN" b="1" dirty="0"/>
          </a:p>
          <a:p>
            <a:r>
              <a:rPr lang="en-IN" b="1" dirty="0"/>
              <a:t>1. Query Understanding</a:t>
            </a:r>
            <a:br>
              <a:rPr lang="en-IN" dirty="0"/>
            </a:br>
            <a:r>
              <a:rPr lang="en-IN" dirty="0"/>
              <a:t>Understands the farmer's question and identifies the type of agricultural information required.</a:t>
            </a:r>
          </a:p>
          <a:p>
            <a:r>
              <a:rPr lang="en-IN" b="1" dirty="0"/>
              <a:t>2. Context Identification</a:t>
            </a:r>
            <a:br>
              <a:rPr lang="en-IN" dirty="0"/>
            </a:br>
            <a:r>
              <a:rPr lang="en-IN" dirty="0"/>
              <a:t>Uses details such as crop, season, location, soil, and irrigation conditions when provided.</a:t>
            </a:r>
          </a:p>
          <a:p>
            <a:r>
              <a:rPr lang="en-IN" b="1" dirty="0"/>
              <a:t>3. Intelligent Retrieval</a:t>
            </a:r>
            <a:br>
              <a:rPr lang="en-IN" dirty="0"/>
            </a:br>
            <a:r>
              <a:rPr lang="en-IN" dirty="0"/>
              <a:t>Retrieves the most relevant agricultural knowledge from the vector database using RAG.</a:t>
            </a:r>
          </a:p>
          <a:p>
            <a:r>
              <a:rPr lang="en-IN" b="1" dirty="0"/>
              <a:t>4. Context-Aware Reasoning</a:t>
            </a:r>
            <a:br>
              <a:rPr lang="en-IN" dirty="0"/>
            </a:br>
            <a:r>
              <a:rPr lang="en-IN" dirty="0"/>
              <a:t>IBM Granite </a:t>
            </a:r>
            <a:r>
              <a:rPr lang="en-IN" dirty="0" err="1"/>
              <a:t>analyzes</a:t>
            </a:r>
            <a:r>
              <a:rPr lang="en-IN" dirty="0"/>
              <a:t> the farmer's query together with the retrieved information.</a:t>
            </a:r>
          </a:p>
          <a:p>
            <a:r>
              <a:rPr lang="en-IN" b="1" dirty="0"/>
              <a:t>5. Recommendation Generation</a:t>
            </a:r>
            <a:br>
              <a:rPr lang="en-IN" dirty="0"/>
            </a:br>
            <a:r>
              <a:rPr lang="en-IN" dirty="0"/>
              <a:t>Converts the retrieved knowledge into practical and understandable farming guidance.</a:t>
            </a:r>
          </a:p>
          <a:p>
            <a:r>
              <a:rPr lang="en-IN" b="1" dirty="0"/>
              <a:t>6. Responsible Decision Support</a:t>
            </a:r>
            <a:br>
              <a:rPr lang="en-IN" dirty="0"/>
            </a:br>
            <a:r>
              <a:rPr lang="en-IN" dirty="0"/>
              <a:t>Avoids fabricating unavailable live information, such as current mandi prices, and communicates limitations when required.</a:t>
            </a:r>
          </a:p>
          <a:p>
            <a:r>
              <a:rPr lang="en-IN" dirty="0"/>
              <a:t>The project material similarly describes the agentic workflow as query understanding, information retrieval, context-aware reasoning, multi-step decision making, and personalized recommendations.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036BB1B3-9881-67AD-D69B-A83264E75954}"/>
              </a:ext>
            </a:extLst>
          </p:cNvPr>
          <p:cNvPicPr>
            <a:picLocks noChangeAspect="1"/>
          </p:cNvPicPr>
          <p:nvPr/>
        </p:nvPicPr>
        <p:blipFill>
          <a:blip r:embed="rId3"/>
          <a:stretch>
            <a:fillRect/>
          </a:stretch>
        </p:blipFill>
        <p:spPr>
          <a:xfrm>
            <a:off x="307874" y="2387377"/>
            <a:ext cx="5594555" cy="3043336"/>
          </a:xfrm>
          <a:prstGeom prst="rect">
            <a:avLst/>
          </a:prstGeom>
        </p:spPr>
      </p:pic>
      <p:pic>
        <p:nvPicPr>
          <p:cNvPr id="6" name="Picture 5">
            <a:extLst>
              <a:ext uri="{FF2B5EF4-FFF2-40B4-BE49-F238E27FC236}">
                <a16:creationId xmlns:a16="http://schemas.microsoft.com/office/drawing/2014/main" id="{2D0FC571-80C5-B402-E4D5-5309828FD246}"/>
              </a:ext>
            </a:extLst>
          </p:cNvPr>
          <p:cNvPicPr>
            <a:picLocks noChangeAspect="1"/>
          </p:cNvPicPr>
          <p:nvPr/>
        </p:nvPicPr>
        <p:blipFill>
          <a:blip r:embed="rId4"/>
          <a:stretch>
            <a:fillRect/>
          </a:stretch>
        </p:blipFill>
        <p:spPr>
          <a:xfrm>
            <a:off x="6289573" y="2387377"/>
            <a:ext cx="5450143" cy="3043336"/>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5" name="Picture 4">
            <a:extLst>
              <a:ext uri="{FF2B5EF4-FFF2-40B4-BE49-F238E27FC236}">
                <a16:creationId xmlns:a16="http://schemas.microsoft.com/office/drawing/2014/main" id="{D0B24E32-7A63-3270-2697-B6DC3382B3B5}"/>
              </a:ext>
            </a:extLst>
          </p:cNvPr>
          <p:cNvPicPr>
            <a:picLocks noChangeAspect="1"/>
          </p:cNvPicPr>
          <p:nvPr/>
        </p:nvPicPr>
        <p:blipFill>
          <a:blip r:embed="rId3"/>
          <a:stretch>
            <a:fillRect/>
          </a:stretch>
        </p:blipFill>
        <p:spPr>
          <a:xfrm>
            <a:off x="304800" y="827084"/>
            <a:ext cx="11631561" cy="546725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9054288D-9F8B-F9AD-EFE1-B42894EC11FA}"/>
              </a:ext>
            </a:extLst>
          </p:cNvPr>
          <p:cNvPicPr>
            <a:picLocks noChangeAspect="1"/>
          </p:cNvPicPr>
          <p:nvPr/>
        </p:nvPicPr>
        <p:blipFill>
          <a:blip r:embed="rId3"/>
          <a:stretch>
            <a:fillRect/>
          </a:stretch>
        </p:blipFill>
        <p:spPr>
          <a:xfrm>
            <a:off x="409144" y="955772"/>
            <a:ext cx="11290636" cy="518326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5" name="Picture 4">
            <a:extLst>
              <a:ext uri="{FF2B5EF4-FFF2-40B4-BE49-F238E27FC236}">
                <a16:creationId xmlns:a16="http://schemas.microsoft.com/office/drawing/2014/main" id="{C6CF8C29-1C3B-A1D1-EBC1-41CF253C2FF9}"/>
              </a:ext>
            </a:extLst>
          </p:cNvPr>
          <p:cNvPicPr>
            <a:picLocks noChangeAspect="1"/>
          </p:cNvPicPr>
          <p:nvPr/>
        </p:nvPicPr>
        <p:blipFill>
          <a:blip r:embed="rId3"/>
          <a:stretch>
            <a:fillRect/>
          </a:stretch>
        </p:blipFill>
        <p:spPr>
          <a:xfrm>
            <a:off x="529036" y="1082446"/>
            <a:ext cx="11133927" cy="547941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47744" y="287985"/>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57576" y="912041"/>
            <a:ext cx="11301984" cy="5570756"/>
          </a:xfrm>
          <a:prstGeom prst="rect">
            <a:avLst/>
          </a:prstGeom>
          <a:noFill/>
        </p:spPr>
        <p:txBody>
          <a:bodyPr wrap="square" rtlCol="0">
            <a:spAutoFit/>
          </a:bodyPr>
          <a:lstStyle/>
          <a:p>
            <a:r>
              <a:rPr lang="en-IN" sz="1800" b="1" dirty="0"/>
              <a:t>What Makes </a:t>
            </a:r>
            <a:r>
              <a:rPr lang="en-IN" sz="1800" b="1" dirty="0" err="1"/>
              <a:t>KrishiNiti</a:t>
            </a:r>
            <a:r>
              <a:rPr lang="en-IN" sz="1800" b="1" dirty="0"/>
              <a:t> AI Different?</a:t>
            </a:r>
          </a:p>
          <a:p>
            <a:r>
              <a:rPr lang="en-IN" sz="1800" b="1" dirty="0"/>
              <a:t>1. RAG-Based Agricultural Intelligence</a:t>
            </a:r>
            <a:br>
              <a:rPr lang="en-IN" sz="1800" dirty="0"/>
            </a:br>
            <a:r>
              <a:rPr lang="en-IN" sz="1800" dirty="0"/>
              <a:t>Instead of relying only on the model's internal knowledge, the system retrieves relevant agricultural information before generating its response. </a:t>
            </a:r>
          </a:p>
          <a:p>
            <a:r>
              <a:rPr lang="en-IN" sz="1800" b="1" dirty="0"/>
              <a:t>2. IBM Granite-Powered Reasoning</a:t>
            </a:r>
            <a:br>
              <a:rPr lang="en-IN" sz="1800" dirty="0"/>
            </a:br>
            <a:r>
              <a:rPr lang="en-IN" sz="1800" dirty="0"/>
              <a:t>IBM Granite is used to generate context-aware and natural-language farming guidance.</a:t>
            </a:r>
          </a:p>
          <a:p>
            <a:r>
              <a:rPr lang="en-IN" sz="1800" b="1" dirty="0"/>
              <a:t>3. Multi-Domain Farming Support</a:t>
            </a:r>
            <a:br>
              <a:rPr lang="en-IN" sz="1800" dirty="0"/>
            </a:br>
            <a:r>
              <a:rPr lang="en-IN" sz="1800" dirty="0"/>
              <a:t>A single assistant addresses multiple agricultural needs:</a:t>
            </a:r>
          </a:p>
          <a:p>
            <a:r>
              <a:rPr lang="en-IN" sz="1800" dirty="0"/>
              <a:t>Crop and seasonal planning, Soil and irrigation, Pest and disease management, Weather-aware guidance </a:t>
            </a:r>
          </a:p>
          <a:p>
            <a:r>
              <a:rPr lang="en-IN" sz="1800" dirty="0"/>
              <a:t>Market and mandi information </a:t>
            </a:r>
          </a:p>
          <a:p>
            <a:r>
              <a:rPr lang="en-IN" sz="1800" b="1" dirty="0"/>
              <a:t>4. Localized Farmer Interaction</a:t>
            </a:r>
            <a:br>
              <a:rPr lang="en-IN" sz="1800" dirty="0"/>
            </a:br>
            <a:r>
              <a:rPr lang="en-IN" sz="1800" dirty="0"/>
              <a:t>The system can respond to farmers in regional languages and adapt recommendations to the context supplied by the farmer.</a:t>
            </a:r>
          </a:p>
          <a:p>
            <a:r>
              <a:rPr lang="en-IN" sz="1800" b="1" dirty="0"/>
              <a:t>5. Trusted Knowledge Retrieval</a:t>
            </a:r>
            <a:br>
              <a:rPr lang="en-IN" sz="1800" dirty="0"/>
            </a:br>
            <a:r>
              <a:rPr lang="en-IN" sz="1800" dirty="0"/>
              <a:t>Relevant information is retrieved from a dedicated agricultural knowledge base, improving grounding and reducing unsupported answers.</a:t>
            </a:r>
          </a:p>
          <a:p>
            <a:r>
              <a:rPr lang="en-IN" sz="1800" b="1" dirty="0"/>
              <a:t>6. Responsible AI </a:t>
            </a:r>
            <a:r>
              <a:rPr lang="en-IN" sz="1800" b="1" dirty="0" err="1"/>
              <a:t>Behavior</a:t>
            </a:r>
            <a:br>
              <a:rPr lang="en-IN" sz="1800" dirty="0"/>
            </a:br>
            <a:r>
              <a:rPr lang="en-IN" sz="1800" dirty="0"/>
              <a:t>The system is designed not to invent live weather, market prices, or unsupported agricultural claims, providing safer decision support.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E25D789-2234-7568-D55C-C27EB5AFB719}"/>
              </a:ext>
            </a:extLst>
          </p:cNvPr>
          <p:cNvSpPr txBox="1"/>
          <p:nvPr/>
        </p:nvSpPr>
        <p:spPr>
          <a:xfrm>
            <a:off x="1337187" y="1347019"/>
            <a:ext cx="9950245" cy="923330"/>
          </a:xfrm>
          <a:prstGeom prst="rect">
            <a:avLst/>
          </a:prstGeom>
          <a:noFill/>
        </p:spPr>
        <p:txBody>
          <a:bodyPr wrap="square" rtlCol="0">
            <a:spAutoFit/>
          </a:bodyPr>
          <a:lstStyle/>
          <a:p>
            <a:r>
              <a:rPr lang="en-IN" sz="1800" dirty="0"/>
              <a:t>The GitHub Repo of </a:t>
            </a:r>
            <a:r>
              <a:rPr lang="en-IN" sz="1800" dirty="0" err="1"/>
              <a:t>KrishiNiti</a:t>
            </a:r>
            <a:r>
              <a:rPr lang="en-IN" sz="1800" dirty="0"/>
              <a:t> AI Agent :</a:t>
            </a:r>
          </a:p>
          <a:p>
            <a:endParaRPr lang="en-IN" sz="1800" dirty="0"/>
          </a:p>
          <a:p>
            <a:r>
              <a:rPr lang="en-IN" sz="1800" dirty="0"/>
              <a:t>https://github.com/varun14r/KrishiNiti-AI</a:t>
            </a: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b="1" dirty="0"/>
              <a:t>Real-Time Weather &amp; Mandi Integration</a:t>
            </a:r>
            <a:br>
              <a:rPr lang="en-IN" sz="2000" dirty="0"/>
            </a:br>
            <a:r>
              <a:rPr lang="en-IN" sz="2000" dirty="0"/>
              <a:t>Connect live weather forecasts and mandi-price APIs for timely, location-based farming and selling decisions. </a:t>
            </a:r>
          </a:p>
          <a:p>
            <a:pPr marL="457200" indent="-457200">
              <a:buFont typeface="+mj-lt"/>
              <a:buAutoNum type="arabicPeriod"/>
            </a:pPr>
            <a:r>
              <a:rPr lang="en-IN" sz="2000" b="1" dirty="0"/>
              <a:t>Multilingual Voice Assistant</a:t>
            </a:r>
            <a:br>
              <a:rPr lang="en-IN" sz="2000" dirty="0"/>
            </a:br>
            <a:r>
              <a:rPr lang="en-IN" sz="2000" dirty="0"/>
              <a:t>Enable farmers to interact through regional-language voice input and audio responses. </a:t>
            </a:r>
          </a:p>
          <a:p>
            <a:pPr marL="457200" indent="-457200">
              <a:buFont typeface="+mj-lt"/>
              <a:buAutoNum type="arabicPeriod"/>
            </a:pPr>
            <a:r>
              <a:rPr lang="en-IN" sz="2000" b="1" dirty="0"/>
              <a:t>AI-Based Crop Disease Detection</a:t>
            </a:r>
            <a:br>
              <a:rPr lang="en-IN" sz="2000" dirty="0"/>
            </a:br>
            <a:r>
              <a:rPr lang="en-IN" sz="2000" dirty="0"/>
              <a:t>Allow farmers to upload crop images for identifying possible diseases, pests, and crop damage. </a:t>
            </a:r>
          </a:p>
          <a:p>
            <a:pPr marL="457200" indent="-457200">
              <a:buFont typeface="+mj-lt"/>
              <a:buAutoNum type="arabicPeriod"/>
            </a:pPr>
            <a:r>
              <a:rPr lang="en-IN" sz="2000" b="1" dirty="0"/>
              <a:t>IoT &amp; Personalized Smart Farming</a:t>
            </a:r>
            <a:br>
              <a:rPr lang="en-IN" sz="2000" dirty="0"/>
            </a:br>
            <a:r>
              <a:rPr lang="en-IN" sz="2000" dirty="0"/>
              <a:t>Integrate soil sensors and farmer-specific data to provide real-time soil monitoring and personalized recommendations.</a:t>
            </a: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1741300" y="739222"/>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10" name="Picture 9">
            <a:extLst>
              <a:ext uri="{FF2B5EF4-FFF2-40B4-BE49-F238E27FC236}">
                <a16:creationId xmlns:a16="http://schemas.microsoft.com/office/drawing/2014/main" id="{BF25607D-90EA-5CBD-66CA-F5FD6518834A}"/>
              </a:ext>
            </a:extLst>
          </p:cNvPr>
          <p:cNvPicPr>
            <a:picLocks noChangeAspect="1"/>
          </p:cNvPicPr>
          <p:nvPr/>
        </p:nvPicPr>
        <p:blipFill>
          <a:blip r:embed="rId2"/>
          <a:stretch>
            <a:fillRect/>
          </a:stretch>
        </p:blipFill>
        <p:spPr>
          <a:xfrm>
            <a:off x="1741300" y="1288026"/>
            <a:ext cx="8709399" cy="519143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3102400" y="65193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IBM BOB Certificate</a:t>
            </a:r>
          </a:p>
        </p:txBody>
      </p:sp>
      <p:pic>
        <p:nvPicPr>
          <p:cNvPr id="3" name="Picture 2">
            <a:extLst>
              <a:ext uri="{FF2B5EF4-FFF2-40B4-BE49-F238E27FC236}">
                <a16:creationId xmlns:a16="http://schemas.microsoft.com/office/drawing/2014/main" id="{EF04CDB7-95BF-4179-50BA-5B5997996E42}"/>
              </a:ext>
            </a:extLst>
          </p:cNvPr>
          <p:cNvPicPr>
            <a:picLocks noChangeAspect="1"/>
          </p:cNvPicPr>
          <p:nvPr/>
        </p:nvPicPr>
        <p:blipFill>
          <a:blip r:embed="rId2"/>
          <a:stretch>
            <a:fillRect/>
          </a:stretch>
        </p:blipFill>
        <p:spPr>
          <a:xfrm>
            <a:off x="538511" y="1200580"/>
            <a:ext cx="11114978" cy="520022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200134"/>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1273</TotalTime>
  <Words>1106</Words>
  <Application>Microsoft Office PowerPoint</Application>
  <PresentationFormat>Widescreen</PresentationFormat>
  <Paragraphs>119</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Varun R</cp:lastModifiedBy>
  <cp:revision>18</cp:revision>
  <dcterms:created xsi:type="dcterms:W3CDTF">2025-07-08T05:06:56Z</dcterms:created>
  <dcterms:modified xsi:type="dcterms:W3CDTF">2026-09-12T18:07:20Z</dcterms:modified>
</cp:coreProperties>
</file>